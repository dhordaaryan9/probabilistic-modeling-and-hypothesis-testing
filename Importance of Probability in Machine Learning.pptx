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oca Two Heavy" charset="1" panose="00000A00000000000000"/>
      <p:regular r:id="rId13"/>
    </p:embeddedFont>
    <p:embeddedFont>
      <p:font typeface="TT Chocolates" charset="1" panose="02000503020000020003"/>
      <p:regular r:id="rId14"/>
    </p:embeddedFont>
    <p:embeddedFont>
      <p:font typeface="TT Chocolates Bold Italics" charset="1" panose="02000803030000090003"/>
      <p:regular r:id="rId15"/>
    </p:embeddedFont>
    <p:embeddedFont>
      <p:font typeface="Canva Sans Bold" charset="1" panose="020B0803030501040103"/>
      <p:regular r:id="rId16"/>
    </p:embeddedFont>
    <p:embeddedFont>
      <p:font typeface="Open Sans Bold" charset="1" panose="020B0806030504020204"/>
      <p:regular r:id="rId17"/>
    </p:embeddedFont>
    <p:embeddedFont>
      <p:font typeface="Archivo Black" charset="1" panose="020B0A03020202020B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244393" y="2328523"/>
            <a:ext cx="5629955" cy="5629955"/>
          </a:xfrm>
          <a:custGeom>
            <a:avLst/>
            <a:gdLst/>
            <a:ahLst/>
            <a:cxnLst/>
            <a:rect r="r" b="b" t="t" l="l"/>
            <a:pathLst>
              <a:path h="5629955" w="5629955">
                <a:moveTo>
                  <a:pt x="0" y="0"/>
                </a:moveTo>
                <a:lnTo>
                  <a:pt x="5629955" y="0"/>
                </a:lnTo>
                <a:lnTo>
                  <a:pt x="5629955" y="5629954"/>
                </a:lnTo>
                <a:lnTo>
                  <a:pt x="0" y="5629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59469" y="1738825"/>
            <a:ext cx="9270061" cy="663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20"/>
              </a:lnSpc>
            </a:pPr>
            <a:r>
              <a:rPr lang="en-US" sz="12792" spc="-972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Importance of </a:t>
            </a:r>
            <a:r>
              <a:rPr lang="en-US" b="true" sz="12792" spc="-97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Probability in Machine Learning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9469" y="8314960"/>
            <a:ext cx="8806671" cy="115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76"/>
              </a:lnSpc>
              <a:spcBef>
                <a:spcPct val="0"/>
              </a:spcBef>
            </a:pPr>
            <a:r>
              <a:rPr lang="en-US" b="true" sz="3340" i="true">
                <a:solidFill>
                  <a:srgbClr val="00000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Machine Learning isn't about "perfect" logic; it’s about calculating the most likely outcome.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398996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82851" y="1724423"/>
            <a:ext cx="16722298" cy="122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7"/>
              </a:lnSpc>
            </a:pPr>
            <a:r>
              <a:rPr lang="en-US" b="true" sz="10545" spc="-801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Why Do We Need Prob</a:t>
            </a:r>
            <a:r>
              <a:rPr lang="en-US" b="true" sz="10545" spc="-801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ability?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566020"/>
            <a:ext cx="13889522" cy="244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93"/>
              </a:lnSpc>
            </a:pPr>
            <a:r>
              <a:rPr lang="en-US" b="true" sz="4637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Real-world data is messy, incomplete, and noisy.  Probability allows models to say "I don't know for sure, but I’m 85% certain."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571212"/>
            <a:ext cx="15791550" cy="331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85"/>
              </a:lnSpc>
            </a:pPr>
            <a:r>
              <a:rPr lang="en-US" b="true" sz="2959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Concepts:</a:t>
            </a:r>
          </a:p>
          <a:p>
            <a:pPr algn="just" marL="638883" indent="-319442" lvl="1">
              <a:lnSpc>
                <a:spcPts val="5385"/>
              </a:lnSpc>
              <a:buFont typeface="Arial"/>
              <a:buChar char="•"/>
            </a:pPr>
            <a:r>
              <a:rPr lang="en-US" b="true" sz="2959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Inherent Ran</a:t>
            </a:r>
            <a:r>
              <a:rPr lang="en-US" b="true" sz="2959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domness: Some systems are naturally unpredictable.</a:t>
            </a:r>
          </a:p>
          <a:p>
            <a:pPr algn="just" marL="638883" indent="-319442" lvl="1">
              <a:lnSpc>
                <a:spcPts val="5385"/>
              </a:lnSpc>
              <a:buFont typeface="Arial"/>
              <a:buChar char="•"/>
            </a:pPr>
            <a:r>
              <a:rPr lang="en-US" b="true" sz="2959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Incomplete Observability: We rarely have all the facts (e.g., predicting a medical diagnosis without every possible test).</a:t>
            </a:r>
          </a:p>
          <a:p>
            <a:pPr algn="just">
              <a:lnSpc>
                <a:spcPts val="538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22035" y="1725447"/>
            <a:ext cx="17693313" cy="10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3"/>
              </a:lnSpc>
            </a:pPr>
            <a:r>
              <a:rPr lang="en-US" b="true" sz="8723" spc="-662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The Pillars (Frequentist</a:t>
            </a:r>
            <a:r>
              <a:rPr lang="en-US" b="true" sz="8723" spc="-662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 vs. Bayesian)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37308" y="3487846"/>
            <a:ext cx="16821992" cy="4961633"/>
            <a:chOff x="0" y="0"/>
            <a:chExt cx="22429322" cy="661551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76200"/>
              <a:ext cx="17353027" cy="2882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0714" indent="-450357" lvl="1">
                <a:lnSpc>
                  <a:spcPts val="5840"/>
                </a:lnSpc>
                <a:buFont typeface="Arial"/>
                <a:buChar char="•"/>
              </a:pPr>
              <a:r>
                <a:rPr lang="en-US" b="true" sz="4171">
                  <a:solidFill>
                    <a:srgbClr val="1D348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Frequentist View: Probability based on how often an event occurs in many trials (e.g., flipping a coin 1,000 times).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12969" y="3733205"/>
              <a:ext cx="12308511" cy="2882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0714" indent="-450357" lvl="1">
                <a:lnSpc>
                  <a:spcPts val="5840"/>
                </a:lnSpc>
                <a:buFont typeface="Arial"/>
                <a:buChar char="•"/>
              </a:pPr>
              <a:r>
                <a:rPr lang="en-US" b="true" sz="4171">
                  <a:solidFill>
                    <a:srgbClr val="1D348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Bayesian View: Probability as a "degree of belief" that updates as we see new evidence.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8003505" y="2617200"/>
              <a:ext cx="4109543" cy="9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99"/>
                </a:lnSpc>
              </a:pPr>
              <a:r>
                <a:rPr lang="en-US" b="true" sz="4427">
                  <a:solidFill>
                    <a:srgbClr val="1D348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P(B|A) P(A)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4201328" y="3248794"/>
              <a:ext cx="3051292" cy="9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99"/>
                </a:lnSpc>
              </a:pPr>
              <a:r>
                <a:rPr lang="en-US" b="true" sz="4427">
                  <a:solidFill>
                    <a:srgbClr val="1D348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P(A|B) =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17686307" y="3687854"/>
              <a:ext cx="4743015" cy="189360"/>
            </a:xfrm>
            <a:custGeom>
              <a:avLst/>
              <a:gdLst/>
              <a:ahLst/>
              <a:cxnLst/>
              <a:rect r="r" b="b" t="t" l="l"/>
              <a:pathLst>
                <a:path h="189360" w="4743015">
                  <a:moveTo>
                    <a:pt x="0" y="0"/>
                  </a:moveTo>
                  <a:lnTo>
                    <a:pt x="4743015" y="0"/>
                  </a:lnTo>
                  <a:lnTo>
                    <a:pt x="4743015" y="189360"/>
                  </a:lnTo>
                  <a:lnTo>
                    <a:pt x="0" y="18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9268536" y="3880389"/>
              <a:ext cx="1578558" cy="1035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6"/>
                </a:lnSpc>
              </a:pPr>
              <a:r>
                <a:rPr lang="en-US" b="true" sz="4704">
                  <a:solidFill>
                    <a:srgbClr val="1D348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P(B)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31667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941465" y="3098070"/>
            <a:ext cx="4067236" cy="6536208"/>
          </a:xfrm>
          <a:custGeom>
            <a:avLst/>
            <a:gdLst/>
            <a:ahLst/>
            <a:cxnLst/>
            <a:rect r="r" b="b" t="t" l="l"/>
            <a:pathLst>
              <a:path h="6536208" w="4067236">
                <a:moveTo>
                  <a:pt x="0" y="0"/>
                </a:moveTo>
                <a:lnTo>
                  <a:pt x="4067236" y="0"/>
                </a:lnTo>
                <a:lnTo>
                  <a:pt x="4067236" y="6536208"/>
                </a:lnTo>
                <a:lnTo>
                  <a:pt x="0" y="6536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431" b="-749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79299" y="1772978"/>
            <a:ext cx="15729402" cy="114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8"/>
              </a:lnSpc>
            </a:pPr>
            <a:r>
              <a:rPr lang="en-US" b="true" sz="9913" spc="-753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 Probability in</a:t>
            </a:r>
            <a:r>
              <a:rPr lang="en-US" b="true" sz="9913" spc="-753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 Key Algorithms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508685"/>
            <a:ext cx="11196699" cy="580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078" indent="-394039" lvl="1">
              <a:lnSpc>
                <a:spcPts val="5110"/>
              </a:lnSpc>
              <a:buFont typeface="Arial"/>
              <a:buChar char="•"/>
            </a:pPr>
            <a:r>
              <a:rPr lang="en-US" b="true" sz="3650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Classification: Algorithms like Logistic Regression don’t just give a "Yes" or "No"—they give a probability score between 0 and 1.</a:t>
            </a:r>
          </a:p>
          <a:p>
            <a:pPr algn="l" marL="788078" indent="-394039" lvl="1">
              <a:lnSpc>
                <a:spcPts val="5110"/>
              </a:lnSpc>
              <a:buFont typeface="Arial"/>
              <a:buChar char="•"/>
            </a:pPr>
            <a:r>
              <a:rPr lang="en-US" b="true" sz="3650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Generative Models: Tools like ChatGPT or Midjourney use probability distributions to predict the "next most likely" word or pixel.</a:t>
            </a:r>
          </a:p>
          <a:p>
            <a:pPr algn="l" marL="788078" indent="-394039" lvl="1">
              <a:lnSpc>
                <a:spcPts val="5110"/>
              </a:lnSpc>
              <a:buFont typeface="Arial"/>
              <a:buChar char="•"/>
            </a:pPr>
            <a:r>
              <a:rPr lang="en-US" b="true" sz="3650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Generative Models: Tools like ChatGPT or Midjourney use probability distributions to predict the "next most likely" word or pixel.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31667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440231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79299" y="1218945"/>
            <a:ext cx="16571393" cy="97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6"/>
              </a:lnSpc>
            </a:pPr>
            <a:r>
              <a:rPr lang="en-US" b="true" sz="8483" spc="-644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Measuring</a:t>
            </a:r>
            <a:r>
              <a:rPr lang="en-US" b="true" sz="8483" spc="-644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 Success &amp; Fixing Errors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18222" y="55536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5296" y="2314168"/>
            <a:ext cx="16377408" cy="151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Likelihood: Measuring the "Goodness of Fit"</a:t>
            </a:r>
          </a:p>
          <a:p>
            <a:pPr algn="l" marL="690881" indent="-345440" lvl="1">
              <a:lnSpc>
                <a:spcPts val="4032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Think of this as a reality check. If our model predicts a 90%           chance of rain and it actually rains, the "likelihood" is high.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051909"/>
            <a:ext cx="16377408" cy="303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Cr</a:t>
            </a: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oss-Entropy: The "Penalty" for Being Wrong</a:t>
            </a:r>
          </a:p>
          <a:p>
            <a:pPr algn="l" marL="690881" indent="-345440" lvl="1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This measures the gap between what the model predicted and what actually happened.</a:t>
            </a:r>
          </a:p>
          <a:p>
            <a:pPr algn="l" marL="690881" indent="-345440" lvl="1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If the model is very confident but totally wrong, the "Cross-Entropy" score goes up. It’s like a penalty points system the goal is to keep this number as low as possible.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212939"/>
            <a:ext cx="16377408" cy="253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Optimizati</a:t>
            </a: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on: Tuning the Machine</a:t>
            </a:r>
          </a:p>
          <a:p>
            <a:pPr algn="l" marL="690881" indent="-345440" lvl="1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We don't just leave the errors as they are. We use calculus to find exactly where the model messed up.</a:t>
            </a:r>
          </a:p>
          <a:p>
            <a:pPr algn="l" marL="690881" indent="-345440" lvl="1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By "tuning" the internal settings, the model learns from its mistakes and moves its next prediction closer to the truth.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31667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24052" y="1617663"/>
            <a:ext cx="15195616" cy="97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6"/>
              </a:lnSpc>
            </a:pPr>
            <a:r>
              <a:rPr lang="en-US" b="true" sz="8483" spc="305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Why This Actually</a:t>
            </a:r>
            <a:r>
              <a:rPr lang="en-US" b="true" sz="8483" spc="305" u="sng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 Matters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18222" y="830262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925347"/>
            <a:ext cx="16377408" cy="130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376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Pr</a:t>
            </a: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obability</a:t>
            </a: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 is the logic of science. so basically If you want a machine to think like a human, you have to teach it how to deal with doubt.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1892" y="2684311"/>
            <a:ext cx="16377408" cy="193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84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With</a:t>
            </a: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 probability, Machine Learning would just be a rigid set of "If-Then" rules. It wouldn't be able to handle the messy, unpredictable nature of the real world.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809148"/>
            <a:ext cx="16377408" cy="2620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As AI becomes part </a:t>
            </a: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of our daily</a:t>
            </a: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 lives—like in self-driving cars—it’s not enough for a model to just give an answer. It needs to know when it’s "confused."</a:t>
            </a:r>
          </a:p>
          <a:p>
            <a:pPr algn="l" marL="690881" indent="-345440" lvl="1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Archivo Black"/>
                <a:ea typeface="Archivo Black"/>
                <a:cs typeface="Archivo Black"/>
                <a:sym typeface="Archivo Black"/>
              </a:rPr>
              <a:t>Quantifying uncertainty is what keeps AI safe; it’s the difference between a car guessing a stop sign and "knowing" it’s there.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17462" y="2975805"/>
            <a:ext cx="9895170" cy="595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139"/>
              </a:lnSpc>
            </a:pPr>
            <a:r>
              <a:rPr lang="en-US" b="true" sz="27000" spc="-205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Thank You!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858812" y="5465640"/>
            <a:ext cx="2048459" cy="2117703"/>
          </a:xfrm>
          <a:custGeom>
            <a:avLst/>
            <a:gdLst/>
            <a:ahLst/>
            <a:cxnLst/>
            <a:rect r="r" b="b" t="t" l="l"/>
            <a:pathLst>
              <a:path h="2117703" w="2048459">
                <a:moveTo>
                  <a:pt x="0" y="0"/>
                </a:moveTo>
                <a:lnTo>
                  <a:pt x="2048459" y="0"/>
                </a:lnTo>
                <a:lnTo>
                  <a:pt x="2048459" y="2117703"/>
                </a:lnTo>
                <a:lnTo>
                  <a:pt x="0" y="211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3960" y="34082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918222" y="830279"/>
            <a:ext cx="2341078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DAHGtG70OPg</dc:identifier>
  <dcterms:modified xsi:type="dcterms:W3CDTF">2011-08-01T06:04:30Z</dcterms:modified>
  <cp:revision>1</cp:revision>
  <dc:title>2026</dc:title>
</cp:coreProperties>
</file>